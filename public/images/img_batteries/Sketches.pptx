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59D5A-C2D6-43F6-8842-3C147A0DF20D}" v="35" dt="2026-04-23T00:12:17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n Otis-Laperrière" userId="f155e897-dc35-4228-8a21-1627442ea9bf" providerId="ADAL" clId="{62CFAC18-12DD-4069-AF2D-D3D5F30C1BC4}"/>
    <pc:docChg chg="undo redo custSel modSld">
      <pc:chgData name="Julien Otis-Laperrière" userId="f155e897-dc35-4228-8a21-1627442ea9bf" providerId="ADAL" clId="{62CFAC18-12DD-4069-AF2D-D3D5F30C1BC4}" dt="2026-04-23T00:12:17.517" v="117" actId="5736"/>
      <pc:docMkLst>
        <pc:docMk/>
      </pc:docMkLst>
      <pc:sldChg chg="modSp mod">
        <pc:chgData name="Julien Otis-Laperrière" userId="f155e897-dc35-4228-8a21-1627442ea9bf" providerId="ADAL" clId="{62CFAC18-12DD-4069-AF2D-D3D5F30C1BC4}" dt="2026-04-23T00:12:17.517" v="117" actId="5736"/>
        <pc:sldMkLst>
          <pc:docMk/>
          <pc:sldMk cId="3245617924" sldId="258"/>
        </pc:sldMkLst>
        <pc:graphicFrameChg chg="mod modGraphic">
          <ac:chgData name="Julien Otis-Laperrière" userId="f155e897-dc35-4228-8a21-1627442ea9bf" providerId="ADAL" clId="{62CFAC18-12DD-4069-AF2D-D3D5F30C1BC4}" dt="2026-04-23T00:12:17.517" v="117" actId="5736"/>
          <ac:graphicFrameMkLst>
            <pc:docMk/>
            <pc:sldMk cId="3245617924" sldId="258"/>
            <ac:graphicFrameMk id="7" creationId="{58E4374F-8E1D-6F07-B2DF-667BDF27F1E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E7BA7-6B26-2423-037B-E1E36C5A6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7AFF7-32B0-B471-D99A-3F2BE6F77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C815F-B567-CCD8-451B-E0180324E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F018-BA6C-4119-8338-9A591E6E282A}" type="datetimeFigureOut">
              <a:rPr lang="en-CA" smtClean="0"/>
              <a:t>2026-04-22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398C1-BFDA-CE03-871F-1B1A2F79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60053-0FF3-AC07-8F5A-C3A7AEE3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1FB9-CE7F-4C32-9419-AD84BABD1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90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303C-9B63-E881-BA94-DC02B3FC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085C9-4EED-3A3A-57D8-E9A9273EB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7E017-EAC4-A3A8-E96D-B54DDDB4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F018-BA6C-4119-8338-9A591E6E282A}" type="datetimeFigureOut">
              <a:rPr lang="en-CA" smtClean="0"/>
              <a:t>2026-04-22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C1AC9-2F05-72F9-F8D7-09947DD6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0C385-C853-F51E-AA33-AA1BEFB0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1FB9-CE7F-4C32-9419-AD84BABD1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5112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0CC45-2C03-DC86-5B66-78005BCD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43AD3-D9D0-1958-A73E-4A54F988C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3DA31-A75A-D180-7EC1-C5EBC3DF8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F018-BA6C-4119-8338-9A591E6E282A}" type="datetimeFigureOut">
              <a:rPr lang="en-CA" smtClean="0"/>
              <a:t>2026-04-22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434B6-AD3E-DDF1-7BA2-53F4A1C49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31DBC-C9A5-E22D-4B37-A212D98C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1FB9-CE7F-4C32-9419-AD84BABD1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667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31972-66DC-F3BB-C992-76450F64B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87BA1-9074-963D-042D-99D7DD780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132CB-E439-B593-E6B2-685FD3F8D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84567-7FDA-C2B1-2C72-C165133F6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F018-BA6C-4119-8338-9A591E6E282A}" type="datetimeFigureOut">
              <a:rPr lang="en-CA" smtClean="0"/>
              <a:t>2026-04-22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03ECD-BB56-999B-03B3-D086D42F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0FB35-2C93-92F4-89A5-671F4EA2A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1FB9-CE7F-4C32-9419-AD84BABD1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0183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82E7-A629-46A0-5D43-49F685260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C1991-9309-C283-6B93-54D64F9F4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50A84-76EE-3FB9-2706-A35D5B0D2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DCB854-5B57-8EE7-02F8-237A360A0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AE962E-74C0-C1E1-F60F-CE0B0D9CD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6E3D5E-DF47-B7F3-A473-5AAB41AE9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F018-BA6C-4119-8338-9A591E6E282A}" type="datetimeFigureOut">
              <a:rPr lang="en-CA" smtClean="0"/>
              <a:t>2026-04-22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565C4C-D7EF-ACA2-35B0-4375DD26E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76EE40-570C-A6C8-C7C4-94102289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1FB9-CE7F-4C32-9419-AD84BABD1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988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184F8-8BB3-112A-C84F-90037565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E1040-AEF5-98DC-CA8E-11B5A826B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F018-BA6C-4119-8338-9A591E6E282A}" type="datetimeFigureOut">
              <a:rPr lang="en-CA" smtClean="0"/>
              <a:t>2026-04-22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46F8D-131D-4F48-69DE-77CC31AF2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440AD-9971-35BE-08B2-1992D7CD1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1FB9-CE7F-4C32-9419-AD84BABD1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7510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67A3CB-B43C-76D0-9FDC-003F7D12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F018-BA6C-4119-8338-9A591E6E282A}" type="datetimeFigureOut">
              <a:rPr lang="en-CA" smtClean="0"/>
              <a:t>2026-04-22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B1954A-181F-22E9-9767-9B649EE3C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77363-3278-0BE9-8C79-6F1A677F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1FB9-CE7F-4C32-9419-AD84BABD1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0900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9EDF7-F2A7-38BC-DE7F-9D3611B7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8FB3-0F5B-3D51-4FE9-52574E865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04E55-B18F-89DC-8439-EC03629A0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BF434-3904-EA0B-465A-4E555F76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F018-BA6C-4119-8338-9A591E6E282A}" type="datetimeFigureOut">
              <a:rPr lang="en-CA" smtClean="0"/>
              <a:t>2026-04-22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91852-B164-94FD-3414-5F642AD80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401FA-3522-5C12-DF64-7464F5E3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1FB9-CE7F-4C32-9419-AD84BABD1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6858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586F-7D41-6973-121F-C394F0D9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08F568-11A1-22A7-1C5E-E3A8685FD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5C1B6-CD45-9DEE-E512-5DF940AF8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4DFB7-9EC0-071C-B18A-DD8EEF88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F018-BA6C-4119-8338-9A591E6E282A}" type="datetimeFigureOut">
              <a:rPr lang="en-CA" smtClean="0"/>
              <a:t>2026-04-22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1B853-EA08-F37D-BC04-A4601B3CF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0C2BB-2D07-7212-C159-F3CC85A9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1FB9-CE7F-4C32-9419-AD84BABD1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602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68C03-6A88-3EF5-D857-0C8F3CB1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B76BA-2CC7-E4FA-3F31-5C8B93CDB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C3384-A1EC-624A-3745-D2141866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F018-BA6C-4119-8338-9A591E6E282A}" type="datetimeFigureOut">
              <a:rPr lang="en-CA" smtClean="0"/>
              <a:t>2026-04-22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ABD8F-0ACA-BBA9-15A3-80BE0A6B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1CA0-8DDF-0D88-5A5F-6B786E42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1FB9-CE7F-4C32-9419-AD84BABD1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130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125BA1-7141-02CA-40B5-EF4559142D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D7810-D308-AF83-E571-50AB909AB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4765-8788-1565-3F51-D4890EAD7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F018-BA6C-4119-8338-9A591E6E282A}" type="datetimeFigureOut">
              <a:rPr lang="en-CA" smtClean="0"/>
              <a:t>2026-04-22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96F30-A0C8-D34D-99BA-6D231CEC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D231F-83C1-981B-677B-FD6B2CE2B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1FB9-CE7F-4C32-9419-AD84BABD1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75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66791-0B31-2667-5F5B-B45A24A5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0DCCF-3358-E9DC-A14E-755C2D6FE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350B0-7E71-F96B-FF75-92C5B62F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4F018-BA6C-4119-8338-9A591E6E282A}" type="datetimeFigureOut">
              <a:rPr lang="en-CA" smtClean="0"/>
              <a:t>2026-04-22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D1148-F7B1-ECA4-5D41-EB56FBFE1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8507D-5276-9A50-D090-39B398248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7A1FB9-CE7F-4C32-9419-AD84BABD19D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1363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FA6192-0ACA-3F19-19E7-048AF76CC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242265"/>
              </p:ext>
            </p:extLst>
          </p:nvPr>
        </p:nvGraphicFramePr>
        <p:xfrm>
          <a:off x="694944" y="1670642"/>
          <a:ext cx="10363578" cy="390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251">
                  <a:extLst>
                    <a:ext uri="{9D8B030D-6E8A-4147-A177-3AD203B41FA5}">
                      <a16:colId xmlns:a16="http://schemas.microsoft.com/office/drawing/2014/main" val="3971384942"/>
                    </a:ext>
                  </a:extLst>
                </a:gridCol>
                <a:gridCol w="2876109">
                  <a:extLst>
                    <a:ext uri="{9D8B030D-6E8A-4147-A177-3AD203B41FA5}">
                      <a16:colId xmlns:a16="http://schemas.microsoft.com/office/drawing/2014/main" val="2497832179"/>
                    </a:ext>
                  </a:extLst>
                </a:gridCol>
                <a:gridCol w="2876109">
                  <a:extLst>
                    <a:ext uri="{9D8B030D-6E8A-4147-A177-3AD203B41FA5}">
                      <a16:colId xmlns:a16="http://schemas.microsoft.com/office/drawing/2014/main" val="3276500457"/>
                    </a:ext>
                  </a:extLst>
                </a:gridCol>
                <a:gridCol w="2876109">
                  <a:extLst>
                    <a:ext uri="{9D8B030D-6E8A-4147-A177-3AD203B41FA5}">
                      <a16:colId xmlns:a16="http://schemas.microsoft.com/office/drawing/2014/main" val="3648315969"/>
                    </a:ext>
                  </a:extLst>
                </a:gridCol>
              </a:tblGrid>
              <a:tr h="450766">
                <a:tc>
                  <a:txBody>
                    <a:bodyPr/>
                    <a:lstStyle/>
                    <a:p>
                      <a:r>
                        <a:rPr lang="en-CA" dirty="0"/>
                        <a:t>Sectors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Behind the 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Below the substation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On the bulk grid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811364"/>
                  </a:ext>
                </a:extLst>
              </a:tr>
              <a:tr h="1152822">
                <a:tc>
                  <a:txBody>
                    <a:bodyPr/>
                    <a:lstStyle/>
                    <a:p>
                      <a:pPr algn="r"/>
                      <a:r>
                        <a:rPr lang="en-CA" i="1" dirty="0"/>
                        <a:t>Residential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CA" sz="1600" dirty="0"/>
                        <a:t>Wall-mounted batteries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CA" sz="1600" dirty="0"/>
                        <a:t>EVs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CA" sz="1600" dirty="0"/>
                        <a:t>Water heaters*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CA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Neighborhood batteries</a:t>
                      </a:r>
                    </a:p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CA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Public &amp; Workplace parked EVs</a:t>
                      </a:r>
                    </a:p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CA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600" dirty="0"/>
                        <a:t>(grouped because typically on the same feeders)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CA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Garage batteries</a:t>
                      </a:r>
                    </a:p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CA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EVs</a:t>
                      </a:r>
                    </a:p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CA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Water heaters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149948"/>
                  </a:ext>
                </a:extLst>
              </a:tr>
              <a:tr h="1152822">
                <a:tc>
                  <a:txBody>
                    <a:bodyPr/>
                    <a:lstStyle/>
                    <a:p>
                      <a:pPr algn="r"/>
                      <a:r>
                        <a:rPr lang="en-CA" i="1" dirty="0"/>
                        <a:t>Commercial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CA" sz="1600" dirty="0"/>
                        <a:t>Pad-mounted batteries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CA" sz="1600" dirty="0"/>
                        <a:t>EV fleets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CA" sz="1600" dirty="0"/>
                        <a:t>Latent/sensible heat*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endParaRPr lang="en-CA" sz="16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CA" sz="1600" dirty="0"/>
                        <a:t>(grouped because similar options)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CA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Garage batteries</a:t>
                      </a:r>
                    </a:p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CA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EVs</a:t>
                      </a:r>
                    </a:p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CA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Water heaters</a:t>
                      </a:r>
                      <a:endParaRPr kumimoji="0" lang="en-CA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900765"/>
                  </a:ext>
                </a:extLst>
              </a:tr>
              <a:tr h="1152822">
                <a:tc>
                  <a:txBody>
                    <a:bodyPr/>
                    <a:lstStyle/>
                    <a:p>
                      <a:pPr algn="r"/>
                      <a:r>
                        <a:rPr lang="en-CA" i="1" dirty="0"/>
                        <a:t>Industrial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CA" sz="1600" dirty="0"/>
                        <a:t>MV/LV side storage</a:t>
                      </a:r>
                      <a:br>
                        <a:rPr lang="en-CA" sz="1600" dirty="0"/>
                      </a:br>
                      <a:r>
                        <a:rPr lang="en-CA" sz="1600" dirty="0"/>
                        <a:t>(“below” the transformer)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CA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Garage batteries</a:t>
                      </a:r>
                    </a:p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CA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EVs</a:t>
                      </a:r>
                    </a:p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CA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Water heaters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068067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622EB3-9401-E27E-CF08-D44C52CA13B7}"/>
              </a:ext>
            </a:extLst>
          </p:cNvPr>
          <p:cNvCxnSpPr>
            <a:cxnSpLocks/>
          </p:cNvCxnSpPr>
          <p:nvPr/>
        </p:nvCxnSpPr>
        <p:spPr>
          <a:xfrm>
            <a:off x="5295900" y="1085866"/>
            <a:ext cx="0" cy="449400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DA82EC-B79B-6482-F1F8-9C39C69D022D}"/>
              </a:ext>
            </a:extLst>
          </p:cNvPr>
          <p:cNvSpPr txBox="1"/>
          <p:nvPr/>
        </p:nvSpPr>
        <p:spPr>
          <a:xfrm>
            <a:off x="5295900" y="1085866"/>
            <a:ext cx="2329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+ distribution costs</a:t>
            </a:r>
            <a:br>
              <a:rPr lang="en-CA" sz="1600" dirty="0"/>
            </a:br>
            <a:r>
              <a:rPr lang="en-CA" sz="1600" dirty="0"/>
              <a:t>   </a:t>
            </a:r>
            <a:r>
              <a:rPr lang="en-CA" sz="1600" i="1" dirty="0"/>
              <a:t>(wires + bins-on-poles)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4FA57D-DABE-CA52-198B-E35ACAEFDBAF}"/>
              </a:ext>
            </a:extLst>
          </p:cNvPr>
          <p:cNvCxnSpPr>
            <a:cxnSpLocks/>
          </p:cNvCxnSpPr>
          <p:nvPr/>
        </p:nvCxnSpPr>
        <p:spPr>
          <a:xfrm>
            <a:off x="8172450" y="1085867"/>
            <a:ext cx="0" cy="449400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7720CB7-6F01-7B4A-CF3A-152D61E9AB6E}"/>
              </a:ext>
            </a:extLst>
          </p:cNvPr>
          <p:cNvSpPr txBox="1"/>
          <p:nvPr/>
        </p:nvSpPr>
        <p:spPr>
          <a:xfrm>
            <a:off x="8172450" y="1085867"/>
            <a:ext cx="34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+ substation </a:t>
            </a:r>
            <a:br>
              <a:rPr lang="en-CA" sz="1600" dirty="0"/>
            </a:br>
            <a:r>
              <a:rPr lang="en-CA" sz="1600" dirty="0"/>
              <a:t>+ transmission costs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24559D-6AC7-035C-9E58-AAFDDA0C46E4}"/>
              </a:ext>
            </a:extLst>
          </p:cNvPr>
          <p:cNvSpPr txBox="1"/>
          <p:nvPr/>
        </p:nvSpPr>
        <p:spPr>
          <a:xfrm>
            <a:off x="694944" y="557987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i="1" dirty="0"/>
              <a:t>*Heat storage does not allow feeding back onto the grid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444BC7-C935-4B98-2F76-DA5B025084BB}"/>
              </a:ext>
            </a:extLst>
          </p:cNvPr>
          <p:cNvSpPr txBox="1"/>
          <p:nvPr/>
        </p:nvSpPr>
        <p:spPr>
          <a:xfrm>
            <a:off x="3060000" y="1208977"/>
            <a:ext cx="1365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b="1" dirty="0"/>
              <a:t>LCOE+ LCOS</a:t>
            </a:r>
            <a:endParaRPr lang="en-CA" sz="1600" b="1" i="1" dirty="0"/>
          </a:p>
        </p:txBody>
      </p:sp>
    </p:spTree>
    <p:extLst>
      <p:ext uri="{BB962C8B-B14F-4D97-AF65-F5344CB8AC3E}">
        <p14:creationId xmlns:p14="http://schemas.microsoft.com/office/powerpoint/2010/main" val="4174478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EAC6D4-DCD6-4BFD-B583-139C44784912}"/>
              </a:ext>
            </a:extLst>
          </p:cNvPr>
          <p:cNvCxnSpPr>
            <a:cxnSpLocks/>
          </p:cNvCxnSpPr>
          <p:nvPr/>
        </p:nvCxnSpPr>
        <p:spPr>
          <a:xfrm>
            <a:off x="5295900" y="1085866"/>
            <a:ext cx="0" cy="449400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43F5A3C-CD0C-9454-8366-538615BF3BF4}"/>
              </a:ext>
            </a:extLst>
          </p:cNvPr>
          <p:cNvSpPr txBox="1"/>
          <p:nvPr/>
        </p:nvSpPr>
        <p:spPr>
          <a:xfrm>
            <a:off x="5295900" y="1085867"/>
            <a:ext cx="2329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+ distribution costs</a:t>
            </a:r>
            <a:br>
              <a:rPr lang="en-CA" sz="1600" dirty="0"/>
            </a:br>
            <a:r>
              <a:rPr lang="en-CA" sz="1600" dirty="0"/>
              <a:t>   </a:t>
            </a:r>
            <a:r>
              <a:rPr lang="en-CA" sz="1600" i="1" dirty="0"/>
              <a:t>(wires + bins-on-poles)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8F7FB0-B608-C204-13BD-A5B072317C44}"/>
              </a:ext>
            </a:extLst>
          </p:cNvPr>
          <p:cNvCxnSpPr>
            <a:cxnSpLocks/>
          </p:cNvCxnSpPr>
          <p:nvPr/>
        </p:nvCxnSpPr>
        <p:spPr>
          <a:xfrm>
            <a:off x="8172450" y="1085867"/>
            <a:ext cx="0" cy="449400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43F1428-1DE6-3390-3499-2BA07B686F74}"/>
              </a:ext>
            </a:extLst>
          </p:cNvPr>
          <p:cNvSpPr txBox="1"/>
          <p:nvPr/>
        </p:nvSpPr>
        <p:spPr>
          <a:xfrm>
            <a:off x="8172450" y="1085867"/>
            <a:ext cx="3483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+ substation </a:t>
            </a:r>
            <a:br>
              <a:rPr lang="en-CA" sz="1600" dirty="0"/>
            </a:br>
            <a:r>
              <a:rPr lang="en-CA" sz="1600" dirty="0"/>
              <a:t>+ transmission costs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7ECE7D-B534-3005-504D-85687990845C}"/>
              </a:ext>
            </a:extLst>
          </p:cNvPr>
          <p:cNvSpPr txBox="1"/>
          <p:nvPr/>
        </p:nvSpPr>
        <p:spPr>
          <a:xfrm>
            <a:off x="3060000" y="1085867"/>
            <a:ext cx="1365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b="1" dirty="0"/>
              <a:t>LCOE+ LCOS</a:t>
            </a:r>
            <a:endParaRPr lang="en-CA" sz="1600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9258F0-253C-B1A9-DDB4-19B84737C1A2}"/>
              </a:ext>
            </a:extLst>
          </p:cNvPr>
          <p:cNvSpPr txBox="1"/>
          <p:nvPr/>
        </p:nvSpPr>
        <p:spPr>
          <a:xfrm>
            <a:off x="3133725" y="222885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Solar+V2L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077A52-0F2D-0DB5-888B-4DEB3B2A932C}"/>
              </a:ext>
            </a:extLst>
          </p:cNvPr>
          <p:cNvSpPr txBox="1"/>
          <p:nvPr/>
        </p:nvSpPr>
        <p:spPr>
          <a:xfrm>
            <a:off x="3133725" y="2733675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Solar+BESS</a:t>
            </a:r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C80892-DB02-26BD-B018-782C17FD7D30}"/>
              </a:ext>
            </a:extLst>
          </p:cNvPr>
          <p:cNvSpPr txBox="1"/>
          <p:nvPr/>
        </p:nvSpPr>
        <p:spPr>
          <a:xfrm>
            <a:off x="5400675" y="2228850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Solar+V2G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2D463C-98E6-045B-394C-8FA6EA5FA2C4}"/>
              </a:ext>
            </a:extLst>
          </p:cNvPr>
          <p:cNvSpPr txBox="1"/>
          <p:nvPr/>
        </p:nvSpPr>
        <p:spPr>
          <a:xfrm>
            <a:off x="5400675" y="2733675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Solar+BESS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63616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A91BF-671B-60D1-25C0-96AC2798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58E4374F-8E1D-6F07-B2DF-667BDF27F1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9128965"/>
              </p:ext>
            </p:extLst>
          </p:nvPr>
        </p:nvGraphicFramePr>
        <p:xfrm>
          <a:off x="1419225" y="1454150"/>
          <a:ext cx="7620000" cy="42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296">
                  <a:extLst>
                    <a:ext uri="{9D8B030D-6E8A-4147-A177-3AD203B41FA5}">
                      <a16:colId xmlns:a16="http://schemas.microsoft.com/office/drawing/2014/main" val="2183259871"/>
                    </a:ext>
                  </a:extLst>
                </a:gridCol>
                <a:gridCol w="1339029">
                  <a:extLst>
                    <a:ext uri="{9D8B030D-6E8A-4147-A177-3AD203B41FA5}">
                      <a16:colId xmlns:a16="http://schemas.microsoft.com/office/drawing/2014/main" val="2537624545"/>
                    </a:ext>
                  </a:extLst>
                </a:gridCol>
                <a:gridCol w="1968225">
                  <a:extLst>
                    <a:ext uri="{9D8B030D-6E8A-4147-A177-3AD203B41FA5}">
                      <a16:colId xmlns:a16="http://schemas.microsoft.com/office/drawing/2014/main" val="2059150269"/>
                    </a:ext>
                  </a:extLst>
                </a:gridCol>
                <a:gridCol w="1968225">
                  <a:extLst>
                    <a:ext uri="{9D8B030D-6E8A-4147-A177-3AD203B41FA5}">
                      <a16:colId xmlns:a16="http://schemas.microsoft.com/office/drawing/2014/main" val="4132884343"/>
                    </a:ext>
                  </a:extLst>
                </a:gridCol>
                <a:gridCol w="1968225">
                  <a:extLst>
                    <a:ext uri="{9D8B030D-6E8A-4147-A177-3AD203B41FA5}">
                      <a16:colId xmlns:a16="http://schemas.microsoft.com/office/drawing/2014/main" val="1516014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sz="1600" b="1" baseline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600" b="1" baseline="0" dirty="0"/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Primarily discharges to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649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6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6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Local load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Distribution poles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Bulk system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86426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CA" sz="1600" b="1" i="0" dirty="0">
                          <a:solidFill>
                            <a:schemeClr val="bg1"/>
                          </a:solidFill>
                        </a:rPr>
                        <a:t>Primarily charges from</a:t>
                      </a:r>
                    </a:p>
                  </a:txBody>
                  <a:tcPr vert="vert270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600" b="1" i="0" dirty="0">
                          <a:solidFill>
                            <a:schemeClr val="bg1"/>
                          </a:solidFill>
                        </a:rPr>
                        <a:t>Local supply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b="1" dirty="0"/>
                        <a:t>Co-location</a:t>
                      </a:r>
                      <a:br>
                        <a:rPr lang="en-CA" sz="1400" b="1" dirty="0"/>
                      </a:br>
                      <a:r>
                        <a:rPr lang="en-CA" sz="1400" dirty="0"/>
                        <a:t>Home batteries w/ rooftop solar, Remote worker EVs, behind-the-fence industrial w/ supply.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="1" dirty="0"/>
                        <a:t>Supply socialization</a:t>
                      </a:r>
                      <a:endParaRPr lang="en-CA" sz="1400" b="0" dirty="0"/>
                    </a:p>
                    <a:p>
                      <a:r>
                        <a:rPr lang="en-CA" sz="1400" b="0" dirty="0"/>
                        <a:t>Parking lot battery at the school charging in day and feeding the borough at night.</a:t>
                      </a:r>
                      <a:endParaRPr lang="en-CA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b="1" dirty="0"/>
                        <a:t>Hybrid generation</a:t>
                      </a:r>
                      <a:br>
                        <a:rPr lang="en-CA" sz="1400" b="1" dirty="0"/>
                      </a:br>
                      <a:r>
                        <a:rPr lang="en-CA" sz="1400" dirty="0"/>
                        <a:t>Hybrid solar/wind/</a:t>
                      </a:r>
                      <a:r>
                        <a:rPr lang="en-CA" sz="1400" dirty="0" err="1"/>
                        <a:t>run-of-river-hydro+BESS</a:t>
                      </a:r>
                      <a:r>
                        <a:rPr lang="en-CA" sz="1400" dirty="0"/>
                        <a:t> plants; behind-the-fence industrial.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66772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r"/>
                      <a:endParaRPr lang="en-CA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600" b="1" i="0" dirty="0">
                          <a:solidFill>
                            <a:schemeClr val="bg1"/>
                          </a:solidFill>
                        </a:rPr>
                        <a:t>Distribution poles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b="1" dirty="0"/>
                        <a:t>Neighborly aid</a:t>
                      </a:r>
                      <a:endParaRPr lang="en-CA" sz="1400" b="0" dirty="0"/>
                    </a:p>
                    <a:p>
                      <a:r>
                        <a:rPr lang="en-CA" sz="1400" b="0" dirty="0"/>
                        <a:t>Garage batteries drawing in daytime to power the kettle.</a:t>
                      </a:r>
                      <a:endParaRPr lang="en-CA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="1" dirty="0"/>
                        <a:t>Feeder balancing</a:t>
                      </a:r>
                      <a:endParaRPr lang="en-CA" sz="1400" b="0" dirty="0"/>
                    </a:p>
                    <a:p>
                      <a:r>
                        <a:rPr lang="en-CA" sz="1400" b="0" dirty="0"/>
                        <a:t>Coop/utility battery soaking midday solar for evening dispatch.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="1" dirty="0"/>
                        <a:t>Postcode power plant</a:t>
                      </a:r>
                      <a:endParaRPr lang="en-CA" sz="1400" b="0" dirty="0"/>
                    </a:p>
                    <a:p>
                      <a:r>
                        <a:rPr lang="en-CA" sz="1400" b="0" dirty="0"/>
                        <a:t>Utility-scale battery feeding back local oversupply to bulk.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9714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r"/>
                      <a:endParaRPr lang="en-CA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600" b="1" i="0" dirty="0">
                          <a:solidFill>
                            <a:schemeClr val="bg1"/>
                          </a:solidFill>
                        </a:rPr>
                        <a:t>Bulk system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b="1" dirty="0"/>
                        <a:t>Peak-shaving</a:t>
                      </a:r>
                      <a:br>
                        <a:rPr lang="en-CA" sz="1400" b="1" dirty="0">
                          <a:highlight>
                            <a:srgbClr val="FFFF00"/>
                          </a:highlight>
                        </a:rPr>
                      </a:br>
                      <a:r>
                        <a:rPr lang="en-CA" sz="1400" dirty="0"/>
                        <a:t>Behind-the-fence industrial battery trickle-charging to avoid demand charges.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="1" dirty="0"/>
                        <a:t>Congestion relief</a:t>
                      </a:r>
                      <a:endParaRPr lang="en-CA" sz="1400" b="0" dirty="0"/>
                    </a:p>
                    <a:p>
                      <a:r>
                        <a:rPr lang="en-CA" sz="1400" b="0" dirty="0"/>
                        <a:t>Substation battery fed by far-off supply dispatching when load &gt; power line capacity.</a:t>
                      </a:r>
                      <a:endParaRPr lang="en-CA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b="1" dirty="0"/>
                        <a:t>Bulk firming</a:t>
                      </a:r>
                    </a:p>
                    <a:p>
                      <a:r>
                        <a:rPr lang="en-CA" sz="1400" b="0" dirty="0"/>
                        <a:t>Big utility battery for spatiotemporal arbitrage of supply and demand.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067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617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287</Words>
  <Application>Microsoft Office PowerPoint</Application>
  <PresentationFormat>Widescreen</PresentationFormat>
  <Paragraphs>63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Otis-Laperrière</dc:creator>
  <cp:lastModifiedBy>Julien OL</cp:lastModifiedBy>
  <cp:revision>1</cp:revision>
  <dcterms:created xsi:type="dcterms:W3CDTF">2025-08-11T15:12:47Z</dcterms:created>
  <dcterms:modified xsi:type="dcterms:W3CDTF">2026-04-23T00:12:28Z</dcterms:modified>
</cp:coreProperties>
</file>